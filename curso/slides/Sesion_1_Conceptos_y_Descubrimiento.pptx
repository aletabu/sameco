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5200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Antes de esta lámina: demo en vivo del sandbox YA funcionando (0-10 min). Tres preguntas: una de evento, una de histórico, una que no está (fallback). Ver el final antes de empezar motiva más que cualquier teoría.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Respaldo: Guía Técnica Parte C + Guía de Capacitación §1.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Recalcar: lo que vieron corre sobre material de práctica ficticio. El objetivo del curso es que al final el asistente corra sobre SU material y lo operen ustedes.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Regla didáctica: cero código. Todo se ancla en la analogía de la biblioteca.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entrar en detalle técnico. La idea clave: sabe REDACTAR, no sabe QUÉ PASÓ en SAMECO. Eso prepara el problema de la alucinación.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MOMENTO CLAVE de la sesión: mostrar UNA alucinación real en vivo — preguntarle a un chat genérico por la agenda del encuentro SAMECO 2026 y ver cómo inventa horarios y oradores. Es el momento 'ahh' que justifica todo lo demás.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RAG = Retrieval-Augmented Generation, pero la sigla no importa; importa el orden: primero buscar, después redactar. Esta es la diferencia entre nuestro asistente y un chat genérico.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Conectar con la demo: mostrar dónde aparecen las citas en la respuesta. El fallback honesto es una FEATURE, no una falla — diferenciador clave frente al chat genérico de la lámina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rápida si hay tiempo: pregunta 8 del set (¿y el segundo día a la mañana?). También mencionar el límite: el contexto dura la conversación, no entre visitas.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lámina queda como referencia permanente: son los términos que van a escuchar durante todo el curso. Sugerencia: imprimirla o dejarla fijada en el chat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Preguntar acá cómo tienen organizado el material en Drive (ya sabemos que tienen Workspace). Explicar con la lámina siguiente el rol de Drive vs. el estante público.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Razón técnica (no contarla salvo que pregunten): el widget público no puede servir contenido desde Drive porque los datastores de Drive llevan control de acceso. Verificado ago-2026.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Guiar con la planilla proyectada. Semáforo = sección 4 de la propuesta. Gestionar expectativa sobre escaneos muy deteriorados desde YA: los ilegibles van a transcripción manual o segunda tanda.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Entre sesiones: crear proyecto, billing con alerta, bucket con estructura, y cargar un primer lote de documentos fáciles para que la Sesión 2 arranque con algo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242371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rial"/>
              </a:rPr>
              <a:t>ASISTENTE Q&amp;A SAMECO — SESIÓN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15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Arial"/>
              </a:rPr>
              <a:t>Un </a:t>
            </a:r>
            <a:r>
              <a:rPr sz="4400" b="1" dirty="0" err="1">
                <a:solidFill>
                  <a:srgbClr val="FFFFFF"/>
                </a:solidFill>
                <a:latin typeface="Arial"/>
              </a:rPr>
              <a:t>asistente</a:t>
            </a:r>
            <a:r>
              <a:rPr sz="4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Arial"/>
              </a:rPr>
              <a:t>que</a:t>
            </a:r>
            <a:r>
              <a:rPr sz="4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Arial"/>
              </a:rPr>
              <a:t>responde</a:t>
            </a:r>
            <a:endParaRPr sz="4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1D5DB"/>
                </a:solidFill>
                <a:latin typeface="Arial"/>
              </a:rPr>
              <a:t>Sesión 1 — Conceptos y descubrimiento  ·  Qué vamos a construir y con qué materiales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56692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Agenda de hoy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783080"/>
          <a:ext cx="10469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Bloque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0–10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Demo: el asistente funcionando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10–35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Los conceptos con los que vamos a trabajar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35–50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El diseño: un asistente, dos bibliotecas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50–80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Taller: inventario de contenidos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80–90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Cierre y tareas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Lo que acaban de 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Un asistente que responde preguntas sobre el encuentro y sobre trabajos históricos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Siempre dice de qué documento sacó la respuesta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Cuando no sabe, lo dice — no inventa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Eso mismo, con los documentos reales de SAMECO, es lo que vamos a construir juntos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Los 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Cinco ideas — con una analogía que nos va a acompañar todo el curso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rial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F2937"/>
                </a:solidFill>
                <a:latin typeface="Arial"/>
              </a:rPr>
              <a:t>IA generativa (LLM)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2937"/>
                </a:solidFill>
                <a:latin typeface="Arial"/>
              </a:rPr>
              <a:t>Un programa que aprendió a redactar leyendo millones de textos. Escribe muy bien… pero no conoce los documentos de SAMECO.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480560"/>
            <a:ext cx="1051560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01168" rtlCol="0" anchor="t"/>
          <a:lstStyle/>
          <a:p>
            <a:pPr algn="l"/>
            <a:r>
              <a:rPr sz="1700" b="0">
                <a:solidFill>
                  <a:srgbClr val="6B7280"/>
                </a:solidFill>
                <a:latin typeface="Arial"/>
              </a:rPr>
              <a:t>En la biblioteca:  un redactor brillante recién llegado a la ciudad: escribe perfecto, no sabe nada del barrio.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rial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F2937"/>
                </a:solidFill>
                <a:latin typeface="Arial"/>
              </a:rPr>
              <a:t>Alucinación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2937"/>
                </a:solidFill>
                <a:latin typeface="Arial"/>
              </a:rPr>
              <a:t>Cuando no sabe la respuesta, la inventa — con total seguridad y muy bien escrita.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480560"/>
            <a:ext cx="1051560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01168" rtlCol="0" anchor="t"/>
          <a:lstStyle/>
          <a:p>
            <a:pPr algn="l"/>
            <a:r>
              <a:rPr sz="1700" b="0">
                <a:solidFill>
                  <a:srgbClr val="6B7280"/>
                </a:solidFill>
                <a:latin typeface="Arial"/>
              </a:rPr>
              <a:t>En la biblioteca:  un redactor que jamás dice "no sé": si le preguntás por un libro que no existe, te lo resume igual.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rial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F2937"/>
                </a:solidFill>
                <a:latin typeface="Arial"/>
              </a:rPr>
              <a:t>RAG: buscar primero, responder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2937"/>
                </a:solidFill>
                <a:latin typeface="Arial"/>
              </a:rPr>
              <a:t>Antes de responder, el asistente busca en los documentos cargados y redacta SOLO a partir de lo que encontró.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480560"/>
            <a:ext cx="1051560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01168" rtlCol="0" anchor="t"/>
          <a:lstStyle/>
          <a:p>
            <a:pPr algn="l"/>
            <a:r>
              <a:rPr sz="1700" b="0">
                <a:solidFill>
                  <a:srgbClr val="6B7280"/>
                </a:solidFill>
                <a:latin typeface="Arial"/>
              </a:rPr>
              <a:t>En la biblioteca:  el bibliotecario no opina de memoria: va al estante, trae el libro y te lee lo que dice.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rial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F2937"/>
                </a:solidFill>
                <a:latin typeface="Arial"/>
              </a:rPr>
              <a:t>Grounding y citas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2937"/>
                </a:solidFill>
                <a:latin typeface="Arial"/>
              </a:rPr>
              <a:t>El asistente está obligado a basarse en los documentos, y muestra la fuente de cada respuesta. Si no está en los documentos: "no cuento con esa información".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480560"/>
            <a:ext cx="1051560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01168" rtlCol="0" anchor="t"/>
          <a:lstStyle/>
          <a:p>
            <a:pPr algn="l"/>
            <a:r>
              <a:rPr sz="1700" b="0">
                <a:solidFill>
                  <a:srgbClr val="6B7280"/>
                </a:solidFill>
                <a:latin typeface="Arial"/>
              </a:rPr>
              <a:t>En la biblioteca:  cada respuesta viene con la ficha del libro del que salió. Y si el libro no está, te lo dice.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rial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F2937"/>
                </a:solidFill>
                <a:latin typeface="Arial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2937"/>
                </a:solidFill>
                <a:latin typeface="Arial"/>
              </a:rPr>
              <a:t>El asistente recuerda la conversación: se puede repreguntar "¿y el segundo día?" sin repetir todo.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480560"/>
            <a:ext cx="1051560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01168" rtlCol="0" anchor="t"/>
          <a:lstStyle/>
          <a:p>
            <a:pPr algn="l"/>
            <a:r>
              <a:rPr sz="1700" b="0">
                <a:solidFill>
                  <a:srgbClr val="6B7280"/>
                </a:solidFill>
                <a:latin typeface="Arial"/>
              </a:rPr>
              <a:t>En la biblioteca:  el bibliotecario se acuerda de qué venían hablando — no hace falta arrancar de cero en cada pregunta.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GLOSARIO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La biblioteca: el diccionario del curso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783080"/>
          <a:ext cx="104698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Cuando escuchen…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Piensen en…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Datastore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La biblioteca (los estantes con los documentos)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Indexar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Fichar los libros para poder encontrarlos rápido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El agente / la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El bibliotecario que atiende la ventanilla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Prompt / instrucciones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Las reglas de trabajo del bibliotecario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Bucket (Cloud 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El estante público: lo que el asistente puede leer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Widget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La ventanilla de consultas puesta en la página web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Arial"/>
                        </a:rPr>
                        <a:t>Transcribir un documento viejo escaneado para poder ficharlo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1F2937"/>
                </a:solidFill>
                <a:latin typeface="Arial"/>
              </a:rPr>
              <a:t>El </a:t>
            </a:r>
            <a:r>
              <a:rPr sz="3000" b="1" dirty="0" err="1">
                <a:solidFill>
                  <a:srgbClr val="1F2937"/>
                </a:solidFill>
                <a:latin typeface="Arial"/>
              </a:rPr>
              <a:t>diseño</a:t>
            </a:r>
            <a:r>
              <a:rPr sz="3000" b="1" dirty="0">
                <a:solidFill>
                  <a:srgbClr val="1F2937"/>
                </a:solidFill>
                <a:latin typeface="Arial"/>
              </a:rPr>
              <a:t>: un </a:t>
            </a:r>
            <a:r>
              <a:rPr sz="3000" b="1" dirty="0" err="1">
                <a:solidFill>
                  <a:srgbClr val="1F2937"/>
                </a:solidFill>
                <a:latin typeface="Arial"/>
              </a:rPr>
              <a:t>asistente</a:t>
            </a:r>
            <a:r>
              <a:rPr sz="3000" b="1" dirty="0">
                <a:solidFill>
                  <a:srgbClr val="1F2937"/>
                </a:solidFill>
                <a:latin typeface="Arial"/>
              </a:rPr>
              <a:t>, dos </a:t>
            </a:r>
            <a:r>
              <a:rPr sz="3000" b="1" dirty="0" err="1">
                <a:solidFill>
                  <a:srgbClr val="1F2937"/>
                </a:solidFill>
                <a:latin typeface="Arial"/>
              </a:rPr>
              <a:t>bibliotecas</a:t>
            </a:r>
            <a:endParaRPr sz="3000" b="1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Biblioteca "Evento octubre 2026": agenda, oradores, inscripción, logística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Biblioteca "Archivo histórico": trabajos de mejora continua de años anteriores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Un solo asistente decide en cuál buscar según la pregunta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¿Por qué no dos asistentes? Una sola ventanilla es más simple para el visitante y para ustedes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Dos lugares de uso: la página web del evento (público) y el equipo interno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Su Drive sigue siendo su lugar de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Drive = el escritorio: ahí editan, versionan y guardan todo, como siempre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El estante público (bucket) = lo que el asistente puede leer y citar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"Publicar" un documento = copiarlo del escritorio al estante (un botón, 30 segundos)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Nada llega al asistente por accidente: publicar es un acto deliberado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Borradores y versiones viejas se quedan en Drive, invisibles para el público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TALLER · 30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Taller: el inventario de contenidos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En una planilla compartida: qué documentos existen, dónde están, en qué formato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Clasificamos con un semáforo: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VERDE — texto limpio (Word, PDF moderno): entra directo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AMARILLO — escaneos: necesitan OCR (transcripción automática)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Arial"/>
              </a:rPr>
              <a:t>–  ROJO — láminas, pósters, PPT muy visuales: hay que describirlos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De paso anotamos la ficha de cada uno: año, autor, tema — la vamos a usar en la Sesión 2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Prioridad: lo que la gente más consulta va primero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samec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502920"/>
            <a:ext cx="145422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rial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rial"/>
              </a:rPr>
              <a:t>Tareas para la próxima sesión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dirty="0">
                <a:solidFill>
                  <a:srgbClr val="1F2937"/>
                </a:solidFill>
                <a:latin typeface="Arial"/>
              </a:rPr>
              <a:t>•  </a:t>
            </a:r>
            <a:r>
              <a:rPr lang="en-US" sz="2000" dirty="0" err="1">
                <a:solidFill>
                  <a:srgbClr val="1F2937"/>
                </a:solidFill>
                <a:latin typeface="Arial"/>
              </a:rPr>
              <a:t>C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ompletar</a:t>
            </a:r>
            <a:r>
              <a:rPr sz="2000" dirty="0">
                <a:solidFill>
                  <a:srgbClr val="1F2937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el</a:t>
            </a:r>
            <a:r>
              <a:rPr sz="2000" dirty="0">
                <a:solidFill>
                  <a:srgbClr val="1F2937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inventario</a:t>
            </a:r>
            <a:r>
              <a:rPr sz="2000" dirty="0">
                <a:solidFill>
                  <a:srgbClr val="1F2937"/>
                </a:solidFill>
                <a:latin typeface="Arial"/>
              </a:rPr>
              <a:t> y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juntar</a:t>
            </a:r>
            <a:r>
              <a:rPr sz="2000" dirty="0">
                <a:solidFill>
                  <a:srgbClr val="1F2937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los</a:t>
            </a:r>
            <a:r>
              <a:rPr sz="2000" dirty="0">
                <a:solidFill>
                  <a:srgbClr val="1F2937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archivos</a:t>
            </a:r>
            <a:r>
              <a:rPr sz="2000" dirty="0">
                <a:solidFill>
                  <a:srgbClr val="1F2937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en</a:t>
            </a:r>
            <a:r>
              <a:rPr sz="2000" dirty="0">
                <a:solidFill>
                  <a:srgbClr val="1F2937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una</a:t>
            </a:r>
            <a:r>
              <a:rPr sz="2000" dirty="0">
                <a:solidFill>
                  <a:srgbClr val="1F2937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carpeta</a:t>
            </a:r>
            <a:r>
              <a:rPr sz="2000" dirty="0">
                <a:solidFill>
                  <a:srgbClr val="1F2937"/>
                </a:solidFill>
                <a:latin typeface="Arial"/>
              </a:rPr>
              <a:t> de Drive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F2937"/>
                </a:solidFill>
                <a:latin typeface="Arial"/>
              </a:rPr>
              <a:t>•  </a:t>
            </a:r>
            <a:r>
              <a:rPr lang="en-US" sz="2000">
                <a:solidFill>
                  <a:srgbClr val="1F2937"/>
                </a:solidFill>
                <a:latin typeface="Arial"/>
              </a:rPr>
              <a:t>C</a:t>
            </a:r>
            <a:r>
              <a:rPr sz="2000">
                <a:solidFill>
                  <a:srgbClr val="1F2937"/>
                </a:solidFill>
                <a:latin typeface="Arial"/>
              </a:rPr>
              <a:t>rear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el</a:t>
            </a:r>
            <a:r>
              <a:rPr sz="2000" dirty="0">
                <a:solidFill>
                  <a:srgbClr val="1F2937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proyecto</a:t>
            </a:r>
            <a:r>
              <a:rPr sz="2000" dirty="0">
                <a:solidFill>
                  <a:srgbClr val="1F2937"/>
                </a:solidFill>
                <a:latin typeface="Arial"/>
              </a:rPr>
              <a:t> de SAMECO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en</a:t>
            </a:r>
            <a:r>
              <a:rPr sz="2000" dirty="0">
                <a:solidFill>
                  <a:srgbClr val="1F2937"/>
                </a:solidFill>
                <a:latin typeface="Arial"/>
              </a:rPr>
              <a:t> Google Cloud y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dejar</a:t>
            </a:r>
            <a:r>
              <a:rPr sz="2000" dirty="0">
                <a:solidFill>
                  <a:srgbClr val="1F2937"/>
                </a:solidFill>
                <a:latin typeface="Arial"/>
              </a:rPr>
              <a:t> la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estructura</a:t>
            </a:r>
            <a:r>
              <a:rPr sz="2000" dirty="0">
                <a:solidFill>
                  <a:srgbClr val="1F2937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lista</a:t>
            </a:r>
            <a:endParaRPr sz="2000" dirty="0">
              <a:solidFill>
                <a:srgbClr val="1F2937"/>
              </a:solidFill>
              <a:latin typeface="Arial"/>
            </a:endParaRPr>
          </a:p>
          <a:p>
            <a:pPr>
              <a:spcAft>
                <a:spcPts val="1400"/>
              </a:spcAft>
            </a:pPr>
            <a:r>
              <a:rPr sz="2000" dirty="0">
                <a:solidFill>
                  <a:srgbClr val="1F2937"/>
                </a:solidFill>
                <a:latin typeface="Arial"/>
              </a:rPr>
              <a:t>• 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Próxima</a:t>
            </a:r>
            <a:r>
              <a:rPr sz="2000" dirty="0">
                <a:solidFill>
                  <a:srgbClr val="1F2937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sesión</a:t>
            </a:r>
            <a:r>
              <a:rPr sz="2000" dirty="0">
                <a:solidFill>
                  <a:srgbClr val="1F2937"/>
                </a:solidFill>
                <a:latin typeface="Arial"/>
              </a:rPr>
              <a:t>: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cargamos</a:t>
            </a:r>
            <a:r>
              <a:rPr sz="2000" dirty="0">
                <a:solidFill>
                  <a:srgbClr val="1F2937"/>
                </a:solidFill>
                <a:latin typeface="Arial"/>
              </a:rPr>
              <a:t> SU material y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el</a:t>
            </a:r>
            <a:r>
              <a:rPr sz="2000" dirty="0">
                <a:solidFill>
                  <a:srgbClr val="1F2937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asistente</a:t>
            </a:r>
            <a:r>
              <a:rPr sz="2000" dirty="0">
                <a:solidFill>
                  <a:srgbClr val="1F2937"/>
                </a:solidFill>
                <a:latin typeface="Arial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empieza</a:t>
            </a:r>
            <a:r>
              <a:rPr sz="2000" dirty="0">
                <a:solidFill>
                  <a:srgbClr val="1F2937"/>
                </a:solidFill>
                <a:latin typeface="Arial"/>
              </a:rPr>
              <a:t> a responder con </a:t>
            </a:r>
            <a:r>
              <a:rPr sz="2000" dirty="0" err="1">
                <a:solidFill>
                  <a:srgbClr val="1F2937"/>
                </a:solidFill>
                <a:latin typeface="Arial"/>
              </a:rPr>
              <a:t>él</a:t>
            </a:r>
            <a:endParaRPr sz="2000" dirty="0">
              <a:solidFill>
                <a:srgbClr val="1F2937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1250</Words>
  <Application>Microsoft Macintosh PowerPoint</Application>
  <PresentationFormat>Grand écran</PresentationFormat>
  <Paragraphs>103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Alejandro Taboada</cp:lastModifiedBy>
  <cp:revision>4</cp:revision>
  <dcterms:created xsi:type="dcterms:W3CDTF">2013-01-27T09:14:16Z</dcterms:created>
  <dcterms:modified xsi:type="dcterms:W3CDTF">2026-08-14T11:33:14Z</dcterms:modified>
  <cp:category/>
</cp:coreProperties>
</file>