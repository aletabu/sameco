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6475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Respaldo: propuesta §4 + Capacitación Embeddings Parte 1-2 (solo ideas, sin código). Objetivo: que sepan dejar la biblioteca lista y entiendan por qué un documento 'entra mal'.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Resolver dudas de semáforo con ejemplos concretos de su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Truco para explicarlo: '¿pueden seleccionar el texto con el mouse? Entonces el asistente también puede leerlo. ¿No pueden? El asistente tampoco.'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Demo con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escaneo</a:t>
            </a:r>
            <a:r>
              <a:rPr dirty="0"/>
              <a:t> </a:t>
            </a:r>
            <a:r>
              <a:rPr dirty="0" err="1"/>
              <a:t>simulado</a:t>
            </a:r>
            <a:r>
              <a:rPr dirty="0"/>
              <a:t> 2009 del sandbox: </a:t>
            </a:r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PDF (</a:t>
            </a:r>
            <a:r>
              <a:rPr dirty="0" err="1"/>
              <a:t>texto</a:t>
            </a:r>
            <a:r>
              <a:rPr dirty="0"/>
              <a:t> no </a:t>
            </a:r>
            <a:r>
              <a:rPr dirty="0" err="1"/>
              <a:t>seleccionable</a:t>
            </a:r>
            <a:r>
              <a:rPr dirty="0"/>
              <a:t>) y la </a:t>
            </a:r>
            <a:r>
              <a:rPr dirty="0" err="1"/>
              <a:t>respuesta</a:t>
            </a:r>
            <a:r>
              <a:rPr dirty="0"/>
              <a:t> </a:t>
            </a:r>
            <a:r>
              <a:rPr dirty="0" err="1"/>
              <a:t>correcta</a:t>
            </a:r>
            <a:r>
              <a:rPr dirty="0"/>
              <a:t> (8,5% → 2,1%). </a:t>
            </a:r>
            <a:r>
              <a:rPr dirty="0" err="1"/>
              <a:t>Cerrar</a:t>
            </a:r>
            <a:r>
              <a:rPr dirty="0"/>
              <a:t> </a:t>
            </a:r>
            <a:r>
              <a:rPr dirty="0" err="1"/>
              <a:t>gestionando</a:t>
            </a:r>
            <a:r>
              <a:rPr dirty="0"/>
              <a:t> </a:t>
            </a:r>
            <a:r>
              <a:rPr dirty="0" err="1"/>
              <a:t>expectativa</a:t>
            </a:r>
            <a:r>
              <a:rPr dirty="0"/>
              <a:t>: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escaneos</a:t>
            </a:r>
            <a:r>
              <a:rPr dirty="0"/>
              <a:t> </a:t>
            </a:r>
            <a:r>
              <a:rPr dirty="0" err="1"/>
              <a:t>ilegibles</a:t>
            </a:r>
            <a:r>
              <a:rPr dirty="0"/>
              <a:t> de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archivo</a:t>
            </a:r>
            <a:r>
              <a:rPr dirty="0"/>
              <a:t> van a </a:t>
            </a:r>
            <a:r>
              <a:rPr dirty="0" err="1"/>
              <a:t>transcripción</a:t>
            </a:r>
            <a:r>
              <a:rPr dirty="0"/>
              <a:t> manual o </a:t>
            </a:r>
            <a:r>
              <a:rPr dirty="0" err="1"/>
              <a:t>segunda</a:t>
            </a:r>
            <a:r>
              <a:rPr dirty="0"/>
              <a:t> </a:t>
            </a:r>
            <a:r>
              <a:rPr dirty="0" err="1"/>
              <a:t>tanda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Detalle técnico (no contar en clase): esto se implementa con la opción 'Documentos con metadatos (RAG)' del datastore — un JSONL que vincula metadatos a cada archivo del bucket; el esquema se detecta automático. Trabajo entre sesiones de Alejandro: script que lee cada documento, genera resumen + etiquetas con IA (análisis semántico), y arma el JSONL con lo validado en la planilla. ACLARACIÓN DE VOCABULARIO por si surge: esto NO es fine-tuning (no se reentrena ningún modelo); es enriquecimiento de datos — la palanca correcta y barata para mejorar un RAG gestionado.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Acá empieza la transferencia. Plan B obligatorio: si la indexación se demora, mostrar el sandbox propio mientras tanto. Nunca cargar por primera vez en vivo sin red de seguridad.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Ensayarlo COMPLETO una vez en vivo y cronometrar: ese número responde la futura pregunta '¿cuándo aparece lo que subo?'. Este procedimiento va al manual de operación de la Sesión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Entre sesiones: OCR/descripciones del material difícil, completar indexación y crear la app conectada a los 2 datastores.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42371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Arial"/>
              </a:rPr>
              <a:t>ASISTENTE Q&amp;A SAMECO — SESIÓN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La biblioteca se llena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1D5DB"/>
                </a:solidFill>
                <a:latin typeface="Arial"/>
              </a:rPr>
              <a:t>Sesión 2 — Preparación del material y carga  ·  De la carpeta de Drive al asistente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56692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Agenda de hoy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783080"/>
          <a:ext cx="10469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Bloque</a:t>
                      </a:r>
                    </a:p>
                  </a:txBody>
                  <a:tcPr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0–15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Repaso y estado del inventario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15–40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Por qué no todo documento entra igual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40–70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Carga en vivo — el mouse lo manejan ustedes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70–85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El procedimiento "sumar un documento"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85–90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Tareas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Arial"/>
              </a:rPr>
              <a:t>REPASO · 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¿Cómo venimos con el inventario?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Repasamos la planilla: ¿qué apareció? ¿qué falta?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Dudas de clasificación: ¿este PPT es verde o rojo?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Elegimos el primer lote a cargar hoy: los verdes más consultados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Arial"/>
              </a:rPr>
              <a:t>CONCEPTO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Por qué no todo documento entra igual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783080"/>
          <a:ext cx="1046988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03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778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El documento</a:t>
                      </a:r>
                    </a:p>
                  </a:txBody>
                  <a:tcPr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Qué pasa al cargarlo</a:t>
                      </a:r>
                    </a:p>
                  </a:txBody>
                  <a:tcPr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7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Word / PDF moderno (texto)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Entra directo — se puede seleccionar el 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7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PowerPoint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El texto entra; lo que es imagen (fotos de láminas), no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7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Escaneo (PDF-foto)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Necesita OCR: la transcripción automática del escaneo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78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Lámina, póster, A3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Arial"/>
                        </a:rPr>
                        <a:t>Hay que describirlo en texto para que el asistente lo "vea"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Demo: el trabajo escaneado de 2009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Un PDF que es una foto: no se puede seleccionar ni una palabra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Y sin embargo… el asistente responde qué scrap tenía la línea de pintura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Eso es el OCR: la biblioteca transcribió el documento viejo al ficharlo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Límite honesto: si el escaneo está muy deteriorado, la transcripción sale mal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Arial"/>
              </a:rPr>
              <a:t>CONCEPTO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Fortalecer la biblioteca: la ficha de cada documento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Además del documento, la biblioteca puede guardar su ficha: título, año, autor, sector, tema y un resumen corto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Con ficha, el bibliotecario encuentra mejor: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Arial"/>
              </a:rPr>
              <a:t>–  "¿Qué trabajos hay de 2018?" deja de depender de que el año figure en el texto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Arial"/>
              </a:rPr>
              <a:t>–  "¿Hay algo del sector alimentario?" funciona aunque el documento nunca diga "alimentario"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Análisis previo con IA: se le hace leer cada documento y propone resumen y etiquetas — ustedes las revisan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División del trabajo: el equipo completa la ficha en la planilla del inventario; Alejandro la carga a la biblioteca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Arial"/>
              </a:rPr>
              <a:t>PRÁCTICA · 30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Carga en vivo — hoy el mouse es de ustedes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Subimos su primer lote real al estante público (bucket)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Creamos / actualizamos las dos bibliotecas (la histórica, con OCR activado)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Vemos la indexación en curso: el fichado tarda de minutos a una hora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937"/>
                </a:solidFill>
                <a:latin typeface="Arial"/>
              </a:rPr>
              <a:t>•  Regla de hoy: el teclado lo maneja una persona del equipo, no Alejandro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Arial"/>
              </a:rPr>
              <a:t>PROCEDIMIENTO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El procedimiento "sumar un documento"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1. 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Guardarlo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en</a:t>
            </a:r>
            <a:r>
              <a:rPr sz="2000" dirty="0">
                <a:solidFill>
                  <a:srgbClr val="1F2937"/>
                </a:solidFill>
                <a:latin typeface="Arial"/>
              </a:rPr>
              <a:t> Drive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como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siempre</a:t>
            </a:r>
            <a:r>
              <a:rPr sz="2000" dirty="0">
                <a:solidFill>
                  <a:srgbClr val="1F2937"/>
                </a:solidFill>
                <a:latin typeface="Arial"/>
              </a:rPr>
              <a:t> (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escritorio</a:t>
            </a:r>
            <a:r>
              <a:rPr sz="2000" dirty="0">
                <a:solidFill>
                  <a:srgbClr val="1F2937"/>
                </a:solidFill>
                <a:latin typeface="Arial"/>
              </a:rPr>
              <a:t>)</a:t>
            </a:r>
          </a:p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2. 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Subirlo</a:t>
            </a:r>
            <a:r>
              <a:rPr sz="2000" dirty="0">
                <a:solidFill>
                  <a:srgbClr val="1F2937"/>
                </a:solidFill>
                <a:latin typeface="Arial"/>
              </a:rPr>
              <a:t> al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estante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público</a:t>
            </a:r>
            <a:r>
              <a:rPr sz="2000" dirty="0">
                <a:solidFill>
                  <a:srgbClr val="1F2937"/>
                </a:solidFill>
                <a:latin typeface="Arial"/>
              </a:rPr>
              <a:t> (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botón</a:t>
            </a:r>
            <a:r>
              <a:rPr sz="2000" dirty="0">
                <a:solidFill>
                  <a:srgbClr val="1F2937"/>
                </a:solidFill>
                <a:latin typeface="Arial"/>
              </a:rPr>
              <a:t> Upload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en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el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navegador</a:t>
            </a:r>
            <a:r>
              <a:rPr sz="2000" dirty="0">
                <a:solidFill>
                  <a:srgbClr val="1F2937"/>
                </a:solidFill>
                <a:latin typeface="Arial"/>
              </a:rPr>
              <a:t>)</a:t>
            </a:r>
          </a:p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3. 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Esperar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la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indexación</a:t>
            </a:r>
            <a:r>
              <a:rPr sz="2000" dirty="0">
                <a:solidFill>
                  <a:srgbClr val="1F2937"/>
                </a:solidFill>
                <a:latin typeface="Arial"/>
              </a:rPr>
              <a:t> (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vamos</a:t>
            </a:r>
            <a:r>
              <a:rPr sz="2000" dirty="0">
                <a:solidFill>
                  <a:srgbClr val="1F2937"/>
                </a:solidFill>
                <a:latin typeface="Arial"/>
              </a:rPr>
              <a:t> a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cronometrar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cuánto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tarda</a:t>
            </a:r>
            <a:r>
              <a:rPr sz="2000" dirty="0">
                <a:solidFill>
                  <a:srgbClr val="1F2937"/>
                </a:solidFill>
                <a:latin typeface="Arial"/>
              </a:rPr>
              <a:t>)</a:t>
            </a:r>
          </a:p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4. 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Verificar</a:t>
            </a:r>
            <a:r>
              <a:rPr sz="2000" dirty="0">
                <a:solidFill>
                  <a:srgbClr val="1F2937"/>
                </a:solidFill>
                <a:latin typeface="Arial"/>
              </a:rPr>
              <a:t>: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hacerle</a:t>
            </a:r>
            <a:r>
              <a:rPr sz="2000" dirty="0">
                <a:solidFill>
                  <a:srgbClr val="1F2937"/>
                </a:solidFill>
                <a:latin typeface="Arial"/>
              </a:rPr>
              <a:t> al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asistente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una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pregunta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que</a:t>
            </a:r>
            <a:r>
              <a:rPr sz="2000" dirty="0">
                <a:solidFill>
                  <a:srgbClr val="1F2937"/>
                </a:solidFill>
                <a:latin typeface="Arial"/>
              </a:rPr>
              <a:t> solo ese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documento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responde</a:t>
            </a:r>
            <a:endParaRPr sz="200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Este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circuito</a:t>
            </a:r>
            <a:r>
              <a:rPr sz="2000" dirty="0">
                <a:solidFill>
                  <a:srgbClr val="1F2937"/>
                </a:solidFill>
                <a:latin typeface="Arial"/>
              </a:rPr>
              <a:t> es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el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corazón</a:t>
            </a:r>
            <a:r>
              <a:rPr sz="2000" dirty="0">
                <a:solidFill>
                  <a:srgbClr val="1F2937"/>
                </a:solidFill>
                <a:latin typeface="Arial"/>
              </a:rPr>
              <a:t> de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su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autonomía</a:t>
            </a:r>
            <a:r>
              <a:rPr sz="2000" dirty="0">
                <a:solidFill>
                  <a:srgbClr val="1F2937"/>
                </a:solidFill>
                <a:latin typeface="Arial"/>
              </a:rPr>
              <a:t> — lo van a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hacer</a:t>
            </a:r>
            <a:r>
              <a:rPr sz="2000" dirty="0">
                <a:solidFill>
                  <a:srgbClr val="1F2937"/>
                </a:solidFill>
                <a:latin typeface="Arial"/>
              </a:rPr>
              <a:t> sin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ayuda</a:t>
            </a:r>
            <a:endParaRPr sz="2000" dirty="0">
              <a:solidFill>
                <a:srgbClr val="1F2937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sameco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502920"/>
            <a:ext cx="145422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Arial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rial"/>
              </a:rPr>
              <a:t>Tareas para la próxima sesión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515600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Equipo: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terminar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de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cargar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el</a:t>
            </a:r>
            <a:r>
              <a:rPr sz="2000" dirty="0">
                <a:solidFill>
                  <a:srgbClr val="1F2937"/>
                </a:solidFill>
                <a:latin typeface="Arial"/>
              </a:rPr>
              <a:t> material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verde</a:t>
            </a:r>
            <a:r>
              <a:rPr sz="2000" dirty="0">
                <a:solidFill>
                  <a:srgbClr val="1F2937"/>
                </a:solidFill>
                <a:latin typeface="Arial"/>
              </a:rPr>
              <a:t>;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separar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escaneos</a:t>
            </a:r>
            <a:r>
              <a:rPr sz="2000" dirty="0">
                <a:solidFill>
                  <a:srgbClr val="1F2937"/>
                </a:solidFill>
                <a:latin typeface="Arial"/>
              </a:rPr>
              <a:t> y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láminas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problemáticos</a:t>
            </a:r>
            <a:endParaRPr sz="200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Equipo: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completar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las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fichas</a:t>
            </a:r>
            <a:r>
              <a:rPr sz="2000" dirty="0">
                <a:solidFill>
                  <a:srgbClr val="1F2937"/>
                </a:solidFill>
                <a:latin typeface="Arial"/>
              </a:rPr>
              <a:t> (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año</a:t>
            </a:r>
            <a:r>
              <a:rPr sz="2000" dirty="0">
                <a:solidFill>
                  <a:srgbClr val="1F2937"/>
                </a:solidFill>
                <a:latin typeface="Arial"/>
              </a:rPr>
              <a:t>,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autor</a:t>
            </a:r>
            <a:r>
              <a:rPr sz="2000" dirty="0">
                <a:solidFill>
                  <a:srgbClr val="1F2937"/>
                </a:solidFill>
                <a:latin typeface="Arial"/>
              </a:rPr>
              <a:t>,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tema</a:t>
            </a:r>
            <a:r>
              <a:rPr sz="2000" dirty="0">
                <a:solidFill>
                  <a:srgbClr val="1F2937"/>
                </a:solidFill>
                <a:latin typeface="Arial"/>
              </a:rPr>
              <a:t>,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resumen</a:t>
            </a:r>
            <a:r>
              <a:rPr sz="2000" dirty="0">
                <a:solidFill>
                  <a:srgbClr val="1F2937"/>
                </a:solidFill>
                <a:latin typeface="Arial"/>
              </a:rPr>
              <a:t>)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en</a:t>
            </a:r>
            <a:r>
              <a:rPr sz="2000" dirty="0">
                <a:solidFill>
                  <a:srgbClr val="1F2937"/>
                </a:solidFill>
                <a:latin typeface="Arial"/>
              </a:rPr>
              <a:t> la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planilla</a:t>
            </a:r>
            <a:r>
              <a:rPr sz="2000" dirty="0">
                <a:solidFill>
                  <a:srgbClr val="1F2937"/>
                </a:solidFill>
                <a:latin typeface="Arial"/>
              </a:rPr>
              <a:t> del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inventario</a:t>
            </a:r>
            <a:endParaRPr sz="200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Alejandro</a:t>
            </a:r>
            <a:r>
              <a:rPr lang="en-US" sz="2000" dirty="0">
                <a:solidFill>
                  <a:srgbClr val="1F2937"/>
                </a:solidFill>
                <a:latin typeface="Arial"/>
              </a:rPr>
              <a:t> / Equipo</a:t>
            </a:r>
            <a:r>
              <a:rPr sz="2000" dirty="0">
                <a:solidFill>
                  <a:srgbClr val="1F2937"/>
                </a:solidFill>
                <a:latin typeface="Arial"/>
              </a:rPr>
              <a:t>: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procesar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el</a:t>
            </a:r>
            <a:r>
              <a:rPr sz="2000" dirty="0">
                <a:solidFill>
                  <a:srgbClr val="1F2937"/>
                </a:solidFill>
                <a:latin typeface="Arial"/>
              </a:rPr>
              <a:t> material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difícil</a:t>
            </a:r>
            <a:r>
              <a:rPr sz="2000" dirty="0">
                <a:solidFill>
                  <a:srgbClr val="1F2937"/>
                </a:solidFill>
                <a:latin typeface="Arial"/>
              </a:rPr>
              <a:t> (</a:t>
            </a:r>
            <a:r>
              <a:rPr lang="en-US" sz="2000" dirty="0">
                <a:solidFill>
                  <a:srgbClr val="1F2937"/>
                </a:solidFill>
                <a:latin typeface="Arial"/>
              </a:rPr>
              <a:t>OCR</a:t>
            </a:r>
            <a:r>
              <a:rPr sz="2000" dirty="0">
                <a:solidFill>
                  <a:srgbClr val="1F2937"/>
                </a:solidFill>
                <a:latin typeface="Arial"/>
              </a:rPr>
              <a:t>, </a:t>
            </a:r>
            <a:r>
              <a:rPr lang="en-US" sz="2000">
                <a:solidFill>
                  <a:srgbClr val="1F2937"/>
                </a:solidFill>
                <a:latin typeface="Arial"/>
              </a:rPr>
              <a:t>videos, </a:t>
            </a:r>
            <a:r>
              <a:rPr sz="2000">
                <a:solidFill>
                  <a:srgbClr val="1F2937"/>
                </a:solidFill>
                <a:latin typeface="Arial"/>
              </a:rPr>
              <a:t>descripciones</a:t>
            </a:r>
            <a:r>
              <a:rPr sz="2000" dirty="0">
                <a:solidFill>
                  <a:srgbClr val="1F2937"/>
                </a:solidFill>
                <a:latin typeface="Arial"/>
              </a:rPr>
              <a:t>) y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cargar</a:t>
            </a:r>
            <a:r>
              <a:rPr sz="2000" dirty="0">
                <a:solidFill>
                  <a:srgbClr val="1F2937"/>
                </a:solidFill>
                <a:latin typeface="Arial"/>
              </a:rPr>
              <a:t> las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fichas</a:t>
            </a:r>
            <a:r>
              <a:rPr sz="2000" dirty="0">
                <a:solidFill>
                  <a:srgbClr val="1F2937"/>
                </a:solidFill>
                <a:latin typeface="Arial"/>
              </a:rPr>
              <a:t> a la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biblioteca</a:t>
            </a:r>
            <a:endParaRPr sz="2000" dirty="0">
              <a:solidFill>
                <a:srgbClr val="1F2937"/>
              </a:solidFill>
              <a:latin typeface="Arial"/>
            </a:endParaRPr>
          </a:p>
          <a:p>
            <a:pPr>
              <a:spcAft>
                <a:spcPts val="1400"/>
              </a:spcAft>
            </a:pPr>
            <a:r>
              <a:rPr sz="2000" dirty="0">
                <a:solidFill>
                  <a:srgbClr val="1F2937"/>
                </a:solidFill>
                <a:latin typeface="Arial"/>
              </a:rPr>
              <a:t>• 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Próxima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sesión</a:t>
            </a:r>
            <a:r>
              <a:rPr sz="2000" dirty="0">
                <a:solidFill>
                  <a:srgbClr val="1F2937"/>
                </a:solidFill>
                <a:latin typeface="Arial"/>
              </a:rPr>
              <a:t>: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el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asistente</a:t>
            </a:r>
            <a:r>
              <a:rPr sz="2000" dirty="0">
                <a:solidFill>
                  <a:srgbClr val="1F2937"/>
                </a:solidFill>
                <a:latin typeface="Arial"/>
              </a:rPr>
              <a:t>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responde</a:t>
            </a:r>
            <a:r>
              <a:rPr sz="2000" dirty="0">
                <a:solidFill>
                  <a:srgbClr val="1F2937"/>
                </a:solidFill>
                <a:latin typeface="Arial"/>
              </a:rPr>
              <a:t> con TODO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su</a:t>
            </a:r>
            <a:r>
              <a:rPr sz="2000" dirty="0">
                <a:solidFill>
                  <a:srgbClr val="1F2937"/>
                </a:solidFill>
                <a:latin typeface="Arial"/>
              </a:rPr>
              <a:t> material — y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aprendemos</a:t>
            </a:r>
            <a:r>
              <a:rPr sz="2000" dirty="0">
                <a:solidFill>
                  <a:srgbClr val="1F2937"/>
                </a:solidFill>
                <a:latin typeface="Arial"/>
              </a:rPr>
              <a:t> a </a:t>
            </a:r>
            <a:r>
              <a:rPr sz="2000" dirty="0" err="1">
                <a:solidFill>
                  <a:srgbClr val="1F2937"/>
                </a:solidFill>
                <a:latin typeface="Arial"/>
              </a:rPr>
              <a:t>evaluarlo</a:t>
            </a:r>
            <a:endParaRPr sz="2000" dirty="0">
              <a:solidFill>
                <a:srgbClr val="1F2937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927</Words>
  <Application>Microsoft Macintosh PowerPoint</Application>
  <PresentationFormat>Grand écran</PresentationFormat>
  <Paragraphs>73</Paragraphs>
  <Slides>9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Alejandro Taboada</cp:lastModifiedBy>
  <cp:revision>2</cp:revision>
  <dcterms:created xsi:type="dcterms:W3CDTF">2013-01-27T09:14:16Z</dcterms:created>
  <dcterms:modified xsi:type="dcterms:W3CDTF">2026-08-20T01:14:58Z</dcterms:modified>
  <cp:category/>
</cp:coreProperties>
</file>